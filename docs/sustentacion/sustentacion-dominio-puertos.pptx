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(20 s) Vamos a mostrar el corazón del backend: el dominio, los puertos que definen qué necesita, y los adaptadores que conectan FastAPI y la persistencia.</a:t>
            </a:r>
          </a:p>
          <a:p>
            <a:r>
              <a:t>Mensaje central: las reglas de negocio no dependen de ninguna tecnología; FastAPI y MongoDB son detalles intercambiables.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 min) Cuatro entidades, modeladas con Pydantic en app/domain/entities.py. Pydantic garantiza la forma (tipos, rangos, enums); las reglas son métodos.</a:t>
            </a:r>
          </a:p>
          <a:p>
            <a:r>
              <a:t>Regla 1: el animal se valida a sí mismo. Decisión del equipo: solo 'adoptado' bloquea; 'postulado' sigue recibiendo postulaciones, porque si no nunca habría dos pendientes y la regla 3 no tendría sentido (contrato, sección 5.1).</a:t>
            </a:r>
          </a:p>
          <a:p>
            <a:r>
              <a:t>Regla 2: la valida el caso de uso Postular preguntando al puerto existe_pendiente(). Solo cuenta la pendiente: tras un rechazo se puede volver a postular.</a:t>
            </a:r>
          </a:p>
          <a:p>
            <a:r>
              <a:t>Regla 3: la que justifica Hexagonal. AprobarPostulacion adopta el animal y cierra automáticamente las demás pendientes.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(45 s) Los estados son enums y cada transición es un método de la entidad. No hay 'if estado ==' repartidos por los endpoints.</a:t>
            </a:r>
          </a:p>
          <a:p>
            <a:r>
              <a:t>Ejemplo: marcar_adoptado() solo funciona desde 'postulado'; si no, lanza TransicionInvalida. Aprobar o rechazar una postulación ya resuelta lanza PostulacionYaResuelta.</a:t>
            </a:r>
          </a:p>
          <a:p>
            <a:r>
              <a:t>El motivo de cierre distingue si la rechazó el refugio o si se cerró sola al aprobar otra; así 'Mis postulaciones' le explica al adoptante qué pasó.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 min) Un puerto es un contrato que define el núcleo. Usamos typing.Protocol: cualquier clase con esos métodos lo cumple, sin heredar de nada.</a:t>
            </a:r>
          </a:p>
          <a:p>
            <a:r>
              <a:t>Fíjense que existe_pendiente() existe solo para la regla 2 y listar_por_animal(estado=PENDIENTE) para la regla 3: los puertos nacen de las necesidades de los casos de uso, no de la base de datos.</a:t>
            </a:r>
          </a:p>
          <a:p>
            <a:r>
              <a:t>Son async porque el adaptador real usa Motor. Hay una prueba (test_el_dominio_no_importa_infraestructura) que falla si alguien importa infraestructura en el dominio.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 min 15 s) Diagrama C4 de componentes.</a:t>
            </a:r>
          </a:p>
          <a:p>
            <a:r>
              <a:t>Arriba, adaptadores de ENTRADA (driving): los routers de FastAPI traducen JSON:API a llamadas a casos de uso, y errors.py traduce excepciones de dominio a HTTP (409, 404, 422). El dominio no sabe que existe HTTP.</a:t>
            </a:r>
          </a:p>
          <a:p>
            <a:r>
              <a:t>En el centro, dependencies.py es el 'composition root': el ÚNICO archivo que decide qué adaptador concreto se inyecta con Depends().</a:t>
            </a:r>
          </a:p>
          <a:p>
            <a:r>
              <a:t>Abajo a la izquierda, adaptadores de SALIDA (driven): InMemory (diccionarios, para pruebas) y Mongo (Motor). Ambos implementan los mismos puertos.</a:t>
            </a:r>
          </a:p>
          <a:p>
            <a:r>
              <a:t>Nota: en el diagrama los casos de uso aparecen con sufijo UseCase; en el código se llaman Postular, AprobarPostulacion, PublicarAnimal.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 min) Recorrido real de la regla 3.</a:t>
            </a:r>
          </a:p>
          <a:p>
            <a:r>
              <a:t>1) El router valida SOLO formato (ADR-006). 2) Depends entrega los repositorios. 3) El caso de uso le pide a las entidades que cambien de estado; si la postulación ya estaba resuelta, la entidad lanza PostulacionYaResuelta y errors.py la convierte en 409.</a:t>
            </a:r>
          </a:p>
          <a:p>
            <a:r>
              <a:t>4) Orden deliberado: primero se guarda lo que decide la adopción y al final el cierre automático; si algo falla a mitad, nunca quedan postulaciones cerradas sobre un animal que nadie adoptó.</a:t>
            </a:r>
          </a:p>
          <a:p>
            <a:r>
              <a:t>5) La respuesta trae en 'included' el animal y las postulaciones cerradas, así el panel del refugio se actualiza con una sola petición.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(45 s) Esta es la prueba concreta de que el estilo cumple lo que promete.</a:t>
            </a:r>
          </a:p>
          <a:p>
            <a:r>
              <a:t>Las pruebas del núcleo corren dentro de un contenedor SIN RED: no hay forma de llegar a Mongo ni a ningún servidor, y aun así el 100 % del dominio y de los casos de uso queda cubierto en unos 2 segundos.</a:t>
            </a:r>
          </a:p>
          <a:p>
            <a:r>
              <a:t>Con mocks verificamos interacciones: por ejemplo, si la regla 1 o 2 rechaza, guardar() no se llama nunca.</a:t>
            </a:r>
          </a:p>
          <a:p>
            <a:r>
              <a:t>Evidencia completa en docs/evidencias/testabilidad.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(45 s) Cierre honesto: Hexagonal tiene costo. Para cuatro entidades es más estructura que un CRUD en capas.</a:t>
            </a:r>
          </a:p>
          <a:p>
            <a:r>
              <a:t>Lo aceptamos porque el valor del sistema está en reglas de estado no triviales (postulación única activa y cierre automático), y el estilo las deja aisladas, probadas al 100 % y a salvo de cambios de tecnología.</a:t>
            </a:r>
          </a:p>
          <a:p>
            <a:r>
              <a:t>Las imperfecciones que encontramos (documentadas en la matriz de principios) están todas en la periferia, ninguna en el dominio.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Hexagon 2"/>
          <p:cNvSpPr/>
          <p:nvPr/>
        </p:nvSpPr>
        <p:spPr>
          <a:xfrm>
            <a:off x="5225796" y="1076523"/>
            <a:ext cx="1737360" cy="1504553"/>
          </a:xfrm>
          <a:prstGeom prst="hexagon">
            <a:avLst/>
          </a:prstGeom>
          <a:gradFill rotWithShape="1">
            <a:gsLst>
              <a:gs pos="0">
                <a:srgbClr val="0171AD"/>
              </a:gs>
              <a:gs pos="100000">
                <a:srgbClr val="002D45"/>
              </a:gs>
            </a:gsLst>
            <a:lin scaled="0" ang="2700000"/>
          </a:gradFill>
          <a:ln w="72389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5660136" y="1452661"/>
            <a:ext cx="868680" cy="752276"/>
          </a:xfrm>
          <a:prstGeom prst="hexagon">
            <a:avLst/>
          </a:prstGeom>
          <a:solidFill>
            <a:srgbClr val="00964E"/>
          </a:solidFill>
          <a:ln w="36194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47614" y="1715871"/>
            <a:ext cx="225856" cy="2258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15480" y="1715871"/>
            <a:ext cx="225856" cy="2258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360152" cy="9144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entury Gothic"/>
              </a:rPr>
              <a:t>Dominio y Puertos/Adaptadores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entury Gothic"/>
              </a:rPr>
              <a:t>Cómo el estilo Hexagonal protege las reglas de la adopción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360152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entury Gothic"/>
              </a:rPr>
              <a:t>Taller Estilos Arquitectónicos y Stack Tecnológico · FAVM · Grupo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27144" y="137160"/>
            <a:ext cx="2977286" cy="8229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entury Gothic"/>
              </a:rPr>
              <a:t>El Dominio</a:t>
            </a:r>
          </a:p>
        </p:txBody>
      </p:sp>
      <p:sp>
        <p:nvSpPr>
          <p:cNvPr id="4" name="Hexagon 3"/>
          <p:cNvSpPr/>
          <p:nvPr/>
        </p:nvSpPr>
        <p:spPr>
          <a:xfrm>
            <a:off x="7264450" y="251688"/>
            <a:ext cx="685800" cy="593902"/>
          </a:xfrm>
          <a:prstGeom prst="hexagon">
            <a:avLst/>
          </a:prstGeom>
          <a:gradFill rotWithShape="1">
            <a:gsLst>
              <a:gs pos="0">
                <a:srgbClr val="0171AD"/>
              </a:gs>
              <a:gs pos="100000">
                <a:srgbClr val="002D45"/>
              </a:gs>
            </a:gsLst>
            <a:lin scaled="0" ang="2700000"/>
          </a:gra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7435900" y="400164"/>
            <a:ext cx="342900" cy="296951"/>
          </a:xfrm>
          <a:prstGeom prst="hexagon">
            <a:avLst/>
          </a:prstGeom>
          <a:solidFill>
            <a:srgbClr val="00964E"/>
          </a:solidFill>
          <a:ln w="14287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33589" y="504063"/>
            <a:ext cx="89154" cy="891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91957" y="504063"/>
            <a:ext cx="89154" cy="891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6656" y="1143000"/>
            <a:ext cx="2606040" cy="1417320"/>
          </a:xfrm>
          <a:prstGeom prst="rect">
            <a:avLst/>
          </a:prstGeom>
          <a:solidFill>
            <a:srgbClr val="0096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234440"/>
            <a:ext cx="224028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entury Gothic"/>
              </a:rPr>
              <a:t>Refugio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1764792"/>
            <a:ext cx="2240280" cy="7040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entury Gothic"/>
              </a:rPr>
              <a:t>Publica animales.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19856" y="1143000"/>
            <a:ext cx="2606040" cy="1417320"/>
          </a:xfrm>
          <a:prstGeom prst="rect">
            <a:avLst/>
          </a:prstGeom>
          <a:gradFill rotWithShape="1">
            <a:gsLst>
              <a:gs pos="0">
                <a:srgbClr val="002D45"/>
              </a:gs>
              <a:gs pos="100000">
                <a:srgbClr val="0171AD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2736" y="1234440"/>
            <a:ext cx="224028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entury Gothic"/>
              </a:rPr>
              <a:t>Animal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1764792"/>
            <a:ext cx="2240280" cy="7040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entury Gothic"/>
              </a:rPr>
              <a:t>disponible → postulado → adoptado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3056" y="1143000"/>
            <a:ext cx="2606040" cy="1417320"/>
          </a:xfrm>
          <a:prstGeom prst="rect">
            <a:avLst/>
          </a:prstGeom>
          <a:solidFill>
            <a:srgbClr val="0096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1234440"/>
            <a:ext cx="224028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entury Gothic"/>
              </a:rPr>
              <a:t>Adoptante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1764792"/>
            <a:ext cx="2240280" cy="7040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entury Gothic"/>
              </a:rPr>
              <a:t>Postula. Se identifica por su email.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06256" y="1143000"/>
            <a:ext cx="2606040" cy="1417320"/>
          </a:xfrm>
          <a:prstGeom prst="rect">
            <a:avLst/>
          </a:prstGeom>
          <a:gradFill rotWithShape="1">
            <a:gsLst>
              <a:gs pos="0">
                <a:srgbClr val="002D45"/>
              </a:gs>
              <a:gs pos="100000">
                <a:srgbClr val="0171AD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89136" y="1234440"/>
            <a:ext cx="224028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entury Gothic"/>
              </a:rPr>
              <a:t>Postulación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9136" y="1764792"/>
            <a:ext cx="2240280" cy="7040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entury Gothic"/>
              </a:rPr>
              <a:t>pendiente → aprobada / rechazada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2788920"/>
            <a:ext cx="10826496" cy="5486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entury Gothic"/>
              </a:rPr>
              <a:t>Reglas de negocio (viven en el núcleo, no en FastAPI ni en Mongo)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" y="3429000"/>
            <a:ext cx="10826496" cy="932688"/>
          </a:xfrm>
          <a:prstGeom prst="rect">
            <a:avLst/>
          </a:prstGeom>
          <a:solidFill>
            <a:srgbClr val="C9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429000"/>
            <a:ext cx="640080" cy="9326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502152"/>
            <a:ext cx="6675120" cy="8229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entury Gothic"/>
              </a:rPr>
              <a:t>No se postula a un animal que no esté disponible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502152"/>
            <a:ext cx="3246120" cy="8229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  <a:latin typeface="Century Gothic"/>
              </a:rPr>
              <a:t>Animal.validar_postulable()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" y="4507992"/>
            <a:ext cx="10826496" cy="932688"/>
          </a:xfrm>
          <a:prstGeom prst="rect">
            <a:avLst/>
          </a:prstGeom>
          <a:gradFill rotWithShape="1">
            <a:gsLst>
              <a:gs pos="0">
                <a:srgbClr val="4A0000"/>
              </a:gs>
              <a:gs pos="100000">
                <a:srgbClr val="AB0001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507992"/>
            <a:ext cx="640080" cy="9326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581144"/>
            <a:ext cx="6675120" cy="8229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entury Gothic"/>
              </a:rPr>
              <a:t>Una sola postulación pendiente por adoptante y animal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581144"/>
            <a:ext cx="3246120" cy="8229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  <a:latin typeface="Century Gothic"/>
              </a:rPr>
              <a:t>Postular + existe_pendiente()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" y="5586983"/>
            <a:ext cx="10826496" cy="932688"/>
          </a:xfrm>
          <a:prstGeom prst="rect">
            <a:avLst/>
          </a:prstGeom>
          <a:gradFill rotWithShape="1">
            <a:gsLst>
              <a:gs pos="0">
                <a:srgbClr val="002D45"/>
              </a:gs>
              <a:gs pos="100000">
                <a:srgbClr val="0171AD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586983"/>
            <a:ext cx="640080" cy="9326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660136"/>
            <a:ext cx="6675120" cy="8229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entury Gothic"/>
              </a:rPr>
              <a:t>Al aprobar: animal adoptado y las demás se cierran solas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5660136"/>
            <a:ext cx="3246120" cy="8229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  <a:latin typeface="Century Gothic"/>
              </a:rPr>
              <a:t>AprobarPostulacion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07434" y="137160"/>
            <a:ext cx="3816705" cy="8229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entury Gothic"/>
              </a:rPr>
              <a:t>Ciclo de Vida</a:t>
            </a:r>
          </a:p>
        </p:txBody>
      </p:sp>
      <p:sp>
        <p:nvSpPr>
          <p:cNvPr id="4" name="Hexagon 3"/>
          <p:cNvSpPr/>
          <p:nvPr/>
        </p:nvSpPr>
        <p:spPr>
          <a:xfrm>
            <a:off x="7684160" y="251688"/>
            <a:ext cx="685800" cy="593902"/>
          </a:xfrm>
          <a:prstGeom prst="hexagon">
            <a:avLst/>
          </a:prstGeom>
          <a:gradFill rotWithShape="1">
            <a:gsLst>
              <a:gs pos="0">
                <a:srgbClr val="0171AD"/>
              </a:gs>
              <a:gs pos="100000">
                <a:srgbClr val="002D45"/>
              </a:gs>
            </a:gsLst>
            <a:lin scaled="0" ang="2700000"/>
          </a:gra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7855610" y="400164"/>
            <a:ext cx="342900" cy="296951"/>
          </a:xfrm>
          <a:prstGeom prst="hexagon">
            <a:avLst/>
          </a:prstGeom>
          <a:solidFill>
            <a:srgbClr val="00964E"/>
          </a:solidFill>
          <a:ln w="14287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53299" y="504063"/>
            <a:ext cx="89154" cy="891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311667" y="504063"/>
            <a:ext cx="89154" cy="891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097280"/>
            <a:ext cx="10826496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entury Gothic"/>
              </a:rPr>
              <a:t>Animal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37360"/>
            <a:ext cx="2377440" cy="685800"/>
          </a:xfrm>
          <a:prstGeom prst="roundRect">
            <a:avLst/>
          </a:prstGeom>
          <a:solidFill>
            <a:srgbClr val="0096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37360"/>
            <a:ext cx="2377440" cy="6858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entury Gothic"/>
              </a:rPr>
              <a:t>disponible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1737360"/>
            <a:ext cx="2377440" cy="685800"/>
          </a:xfrm>
          <a:prstGeom prst="roundRect">
            <a:avLst/>
          </a:prstGeom>
          <a:gradFill rotWithShape="1">
            <a:gsLst>
              <a:gs pos="0">
                <a:srgbClr val="002D45"/>
              </a:gs>
              <a:gs pos="100000">
                <a:srgbClr val="0171AD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737360"/>
            <a:ext cx="2377440" cy="6858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entury Gothic"/>
              </a:rPr>
              <a:t>postulado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737360"/>
            <a:ext cx="2377440" cy="685800"/>
          </a:xfrm>
          <a:prstGeom prst="roundRect">
            <a:avLst/>
          </a:prstGeom>
          <a:gradFill rotWithShape="1">
            <a:gsLst>
              <a:gs pos="0">
                <a:srgbClr val="4A0000"/>
              </a:gs>
              <a:gs pos="100000">
                <a:srgbClr val="AB0001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737360"/>
            <a:ext cx="2377440" cy="6858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entury Gothic"/>
              </a:rPr>
              <a:t>adoptado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46120" y="1938528"/>
            <a:ext cx="1600200" cy="0"/>
          </a:xfrm>
          <a:prstGeom prst="line">
            <a:avLst/>
          </a:prstGeom>
          <a:ln w="31750">
            <a:solidFill>
              <a:srgbClr val="FFFF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54680" y="1371600"/>
            <a:ext cx="182880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entury Gothic"/>
              </a:rPr>
              <a:t>registrar_postulacion()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0" y="2075688"/>
            <a:ext cx="1600200" cy="0"/>
          </a:xfrm>
          <a:prstGeom prst="line">
            <a:avLst/>
          </a:prstGeom>
          <a:ln w="31750">
            <a:solidFill>
              <a:srgbClr val="FFFF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223760" y="2148840"/>
            <a:ext cx="182880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entury Gothic"/>
              </a:rPr>
              <a:t>marcar_adoptado()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3246120" y="2286000"/>
            <a:ext cx="1600200" cy="0"/>
          </a:xfrm>
          <a:prstGeom prst="line">
            <a:avLst/>
          </a:prstGeom>
          <a:ln w="22860">
            <a:solidFill>
              <a:srgbClr val="AAAAA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154680" y="2377440"/>
            <a:ext cx="182880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entury Gothic"/>
              </a:rPr>
              <a:t>liberar()  (última rechazada)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3246120"/>
            <a:ext cx="10826496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entury Gothic"/>
              </a:rPr>
              <a:t>Postulación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069080"/>
            <a:ext cx="2377440" cy="685800"/>
          </a:xfrm>
          <a:prstGeom prst="roundRect">
            <a:avLst/>
          </a:prstGeom>
          <a:solidFill>
            <a:srgbClr val="C97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069080"/>
            <a:ext cx="2377440" cy="6858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entury Gothic"/>
              </a:rPr>
              <a:t>pendiente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92040" y="3611880"/>
            <a:ext cx="2377440" cy="685800"/>
          </a:xfrm>
          <a:prstGeom prst="roundRect">
            <a:avLst/>
          </a:prstGeom>
          <a:solidFill>
            <a:srgbClr val="0096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3611880"/>
            <a:ext cx="2377440" cy="6858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entury Gothic"/>
              </a:rPr>
              <a:t>aprobada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92040" y="4709160"/>
            <a:ext cx="2377440" cy="685800"/>
          </a:xfrm>
          <a:prstGeom prst="roundRect">
            <a:avLst/>
          </a:prstGeom>
          <a:solidFill>
            <a:srgbClr val="C9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4709160"/>
            <a:ext cx="2377440" cy="6858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entury Gothic"/>
              </a:rPr>
              <a:t>rechazada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3246120" y="3977639"/>
            <a:ext cx="1600200" cy="320041"/>
          </a:xfrm>
          <a:prstGeom prst="line">
            <a:avLst/>
          </a:prstGeom>
          <a:ln w="31750">
            <a:solidFill>
              <a:srgbClr val="FFFF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017520" y="3611880"/>
            <a:ext cx="1828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entury Gothic"/>
              </a:rPr>
              <a:t>aprobar()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246120" y="4617720"/>
            <a:ext cx="1600200" cy="411480"/>
          </a:xfrm>
          <a:prstGeom prst="line">
            <a:avLst/>
          </a:prstGeom>
          <a:ln w="31750">
            <a:solidFill>
              <a:srgbClr val="FFFF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926080" y="4983480"/>
            <a:ext cx="201168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entury Gothic"/>
              </a:rPr>
              <a:t>rechazar()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80960" y="3611880"/>
            <a:ext cx="3822191" cy="1783080"/>
          </a:xfrm>
          <a:prstGeom prst="rect">
            <a:avLst/>
          </a:prstGeom>
          <a:gradFill rotWithShape="1">
            <a:gsLst>
              <a:gs pos="0">
                <a:srgbClr val="002D45"/>
              </a:gs>
              <a:gs pos="100000">
                <a:srgbClr val="0171AD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6679" y="3630168"/>
            <a:ext cx="3749039" cy="1746504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marL="148590" indent="-148590">
              <a:lnSpc>
                <a:spcPct val="100000"/>
              </a:lnSpc>
              <a:buChar char="•"/>
            </a:pPr>
            <a:r>
              <a:rPr sz="1300" b="1">
                <a:solidFill>
                  <a:srgbClr val="FFFFFF"/>
                </a:solidFill>
                <a:latin typeface="Century Gothic"/>
              </a:rPr>
              <a:t>motivoCierre: rechazada_por_refugio o cierre_automatico</a:t>
            </a:r>
          </a:p>
          <a:p>
            <a:pPr marL="148590" indent="-148590">
              <a:lnSpc>
                <a:spcPct val="100000"/>
              </a:lnSpc>
              <a:buChar char="•"/>
            </a:pPr>
            <a:r>
              <a:rPr sz="1300" b="1">
                <a:solidFill>
                  <a:srgbClr val="FFFFFF"/>
                </a:solidFill>
                <a:latin typeface="Century Gothic"/>
              </a:rPr>
              <a:t>Resolver dos veces → PostulacionYaResuelta (409)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" y="5806440"/>
            <a:ext cx="10826496" cy="7315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entury Gothic"/>
              </a:rPr>
              <a:t>Las transiciones inválidas las impide la propia entidad: ningún canal de entrada se las puede saltar.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26127" y="137160"/>
            <a:ext cx="2179320" cy="8229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entury Gothic"/>
              </a:rPr>
              <a:t>Puertos</a:t>
            </a:r>
          </a:p>
        </p:txBody>
      </p:sp>
      <p:sp>
        <p:nvSpPr>
          <p:cNvPr id="4" name="Hexagon 3"/>
          <p:cNvSpPr/>
          <p:nvPr/>
        </p:nvSpPr>
        <p:spPr>
          <a:xfrm>
            <a:off x="6865467" y="251688"/>
            <a:ext cx="685800" cy="593902"/>
          </a:xfrm>
          <a:prstGeom prst="hexagon">
            <a:avLst/>
          </a:prstGeom>
          <a:gradFill rotWithShape="1">
            <a:gsLst>
              <a:gs pos="0">
                <a:srgbClr val="0171AD"/>
              </a:gs>
              <a:gs pos="100000">
                <a:srgbClr val="002D45"/>
              </a:gs>
            </a:gsLst>
            <a:lin scaled="0" ang="2700000"/>
          </a:gra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7036917" y="400164"/>
            <a:ext cx="342900" cy="296951"/>
          </a:xfrm>
          <a:prstGeom prst="hexagon">
            <a:avLst/>
          </a:prstGeom>
          <a:solidFill>
            <a:srgbClr val="00964E"/>
          </a:solidFill>
          <a:ln w="14287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34606" y="504063"/>
            <a:ext cx="89154" cy="891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2974" y="504063"/>
            <a:ext cx="89154" cy="891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6656" y="1143000"/>
            <a:ext cx="6035040" cy="4206240"/>
          </a:xfrm>
          <a:prstGeom prst="rect">
            <a:avLst/>
          </a:prstGeom>
          <a:solidFill>
            <a:srgbClr val="1E2430"/>
          </a:solidFill>
          <a:ln>
            <a:solidFill>
              <a:srgbClr val="3A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234440"/>
            <a:ext cx="5760720" cy="4023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rgbClr val="C678DD"/>
                </a:solidFill>
                <a:latin typeface="Consolas"/>
              </a:rPr>
              <a:t>class AnimalRepository(Protocol):</a:t>
            </a:r>
          </a:p>
          <a:p>
            <a:r>
              <a:rPr sz="1300">
                <a:solidFill>
                  <a:srgbClr val="E6E6E6"/>
                </a:solidFill>
                <a:latin typeface="Consolas"/>
              </a:rPr>
              <a:t>    async def obtener(self, animal_id)</a:t>
            </a:r>
          </a:p>
          <a:p>
            <a:r>
              <a:rPr sz="1300">
                <a:solidFill>
                  <a:srgbClr val="E6E6E6"/>
                </a:solidFill>
                <a:latin typeface="Consolas"/>
              </a:rPr>
              <a:t>        -&gt; Animal | None</a:t>
            </a:r>
          </a:p>
          <a:p>
            <a:r>
              <a:rPr sz="1300">
                <a:solidFill>
                  <a:srgbClr val="E6E6E6"/>
                </a:solidFill>
                <a:latin typeface="Consolas"/>
              </a:rPr>
              <a:t>    async def listar(self, *, estado,</a:t>
            </a:r>
          </a:p>
          <a:p>
            <a:r>
              <a:rPr sz="1300">
                <a:solidFill>
                  <a:srgbClr val="E6E6E6"/>
                </a:solidFill>
                <a:latin typeface="Consolas"/>
              </a:rPr>
              <a:t>        especie, refugio_id, pagina, tamano)</a:t>
            </a:r>
          </a:p>
          <a:p>
            <a:r>
              <a:rPr sz="1300">
                <a:solidFill>
                  <a:srgbClr val="E6E6E6"/>
                </a:solidFill>
                <a:latin typeface="Consolas"/>
              </a:rPr>
              <a:t>    async def guardar(self, animal) -&gt; Animal</a:t>
            </a:r>
          </a:p>
          <a:p>
            <a:r>
              <a:rPr sz="1300">
                <a:solidFill>
                  <a:srgbClr val="E6E6E6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C678DD"/>
                </a:solidFill>
                <a:latin typeface="Consolas"/>
              </a:rPr>
              <a:t>class PostulacionRepository(Protocol):</a:t>
            </a:r>
          </a:p>
          <a:p>
            <a:r>
              <a:rPr sz="1300">
                <a:solidFill>
                  <a:srgbClr val="E6E6E6"/>
                </a:solidFill>
                <a:latin typeface="Consolas"/>
              </a:rPr>
              <a:t>    async def existe_pendiente(adoptante_id,</a:t>
            </a:r>
          </a:p>
          <a:p>
            <a:r>
              <a:rPr sz="1300">
                <a:solidFill>
                  <a:srgbClr val="98C379"/>
                </a:solidFill>
                <a:latin typeface="Consolas"/>
              </a:rPr>
              <a:t>        animal_id) -&gt; bool      # regla 2</a:t>
            </a:r>
          </a:p>
          <a:p>
            <a:r>
              <a:rPr sz="1300">
                <a:solidFill>
                  <a:srgbClr val="E6E6E6"/>
                </a:solidFill>
                <a:latin typeface="Consolas"/>
              </a:rPr>
              <a:t>    async def listar_por_animal(animal_id,</a:t>
            </a:r>
          </a:p>
          <a:p>
            <a:r>
              <a:rPr sz="1300">
                <a:solidFill>
                  <a:srgbClr val="98C379"/>
                </a:solidFill>
                <a:latin typeface="Consolas"/>
              </a:rPr>
              <a:t>        *, estado)               # regla 3</a:t>
            </a:r>
          </a:p>
          <a:p>
            <a:r>
              <a:rPr sz="1300">
                <a:solidFill>
                  <a:srgbClr val="7F8C98"/>
                </a:solidFill>
                <a:latin typeface="Consolas"/>
              </a:rPr>
              <a:t>    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1143000"/>
            <a:ext cx="4553712" cy="2011680"/>
          </a:xfrm>
          <a:prstGeom prst="rect">
            <a:avLst/>
          </a:prstGeom>
          <a:solidFill>
            <a:srgbClr val="0096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1161288"/>
            <a:ext cx="4480560" cy="1975104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marL="160020" indent="-160020">
              <a:lnSpc>
                <a:spcPct val="100000"/>
              </a:lnSpc>
              <a:buChar char="•"/>
            </a:pPr>
            <a:r>
              <a:rPr sz="1400" b="1">
                <a:solidFill>
                  <a:srgbClr val="FFFFFF"/>
                </a:solidFill>
                <a:latin typeface="Century Gothic"/>
              </a:rPr>
              <a:t>Interfaces definidas por el núcleo (typing.Protocol)</a:t>
            </a:r>
          </a:p>
          <a:p>
            <a:pPr marL="160020" indent="-160020">
              <a:lnSpc>
                <a:spcPct val="100000"/>
              </a:lnSpc>
              <a:buChar char="•"/>
            </a:pPr>
            <a:r>
              <a:rPr sz="1400" b="1">
                <a:solidFill>
                  <a:srgbClr val="FFFFFF"/>
                </a:solidFill>
                <a:latin typeface="Century Gothic"/>
              </a:rPr>
              <a:t>Dicen QUÉ necesita el caso de uso, no CÓMO</a:t>
            </a:r>
          </a:p>
          <a:p>
            <a:pPr marL="160020" indent="-160020">
              <a:lnSpc>
                <a:spcPct val="100000"/>
              </a:lnSpc>
              <a:buChar char="•"/>
            </a:pPr>
            <a:r>
              <a:rPr sz="1400" b="1">
                <a:solidFill>
                  <a:srgbClr val="FFFFFF"/>
                </a:solidFill>
                <a:latin typeface="Century Gothic"/>
              </a:rPr>
              <a:t>Tipado estructural: se cumplen sin heredar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3337560"/>
            <a:ext cx="4553712" cy="2011680"/>
          </a:xfrm>
          <a:prstGeom prst="rect">
            <a:avLst/>
          </a:prstGeom>
          <a:gradFill rotWithShape="1">
            <a:gsLst>
              <a:gs pos="0">
                <a:srgbClr val="002D45"/>
              </a:gs>
              <a:gs pos="100000">
                <a:srgbClr val="0171AD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3355848"/>
            <a:ext cx="4480560" cy="1975104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marL="160020" indent="-160020">
              <a:lnSpc>
                <a:spcPct val="100000"/>
              </a:lnSpc>
              <a:buChar char="•"/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 puertos pequeños: Animal, Postulación, Refugio, Adoptante</a:t>
            </a:r>
          </a:p>
          <a:p>
            <a:pPr marL="160020" indent="-160020">
              <a:lnSpc>
                <a:spcPct val="100000"/>
              </a:lnSpc>
              <a:buChar char="•"/>
            </a:pPr>
            <a:r>
              <a:rPr sz="1400" b="1">
                <a:solidFill>
                  <a:srgbClr val="FFFFFF"/>
                </a:solidFill>
                <a:latin typeface="Century Gothic"/>
              </a:rPr>
              <a:t>Solo métodos que algún caso de uso usa (ISP, YAGNI)</a:t>
            </a:r>
          </a:p>
          <a:p>
            <a:pPr marL="160020" indent="-160020">
              <a:lnSpc>
                <a:spcPct val="100000"/>
              </a:lnSpc>
              <a:buChar char="•"/>
            </a:pPr>
            <a:r>
              <a:rPr sz="1400" b="1">
                <a:solidFill>
                  <a:srgbClr val="FFFFFF"/>
                </a:solidFill>
                <a:latin typeface="Century Gothic"/>
              </a:rPr>
              <a:t>Ubicación: app/application/ports/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5669280"/>
            <a:ext cx="10826496" cy="7315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entury Gothic"/>
              </a:rPr>
              <a:t>El dominio no importa FastAPI, Motor ni pymongo: una prueba automática lo verifica.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79977" y="137160"/>
            <a:ext cx="3671620" cy="8229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entury Gothic"/>
              </a:rPr>
              <a:t>Adaptadores</a:t>
            </a:r>
          </a:p>
        </p:txBody>
      </p:sp>
      <p:sp>
        <p:nvSpPr>
          <p:cNvPr id="4" name="Hexagon 3"/>
          <p:cNvSpPr/>
          <p:nvPr/>
        </p:nvSpPr>
        <p:spPr>
          <a:xfrm>
            <a:off x="7611618" y="251688"/>
            <a:ext cx="685800" cy="593902"/>
          </a:xfrm>
          <a:prstGeom prst="hexagon">
            <a:avLst/>
          </a:prstGeom>
          <a:gradFill rotWithShape="1">
            <a:gsLst>
              <a:gs pos="0">
                <a:srgbClr val="0171AD"/>
              </a:gs>
              <a:gs pos="100000">
                <a:srgbClr val="002D45"/>
              </a:gs>
            </a:gsLst>
            <a:lin scaled="0" ang="2700000"/>
          </a:gra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7783068" y="400164"/>
            <a:ext cx="342900" cy="296951"/>
          </a:xfrm>
          <a:prstGeom prst="hexagon">
            <a:avLst/>
          </a:prstGeom>
          <a:solidFill>
            <a:srgbClr val="00964E"/>
          </a:solidFill>
          <a:ln w="14287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80757" y="504063"/>
            <a:ext cx="89154" cy="891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39124" y="504063"/>
            <a:ext cx="89154" cy="891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-c4-componen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51560"/>
            <a:ext cx="11365992" cy="55090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88693" y="137160"/>
            <a:ext cx="7454188" cy="8229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entury Gothic"/>
              </a:rPr>
              <a:t>Aprobar: de HTTP al Dominio</a:t>
            </a:r>
          </a:p>
        </p:txBody>
      </p:sp>
      <p:sp>
        <p:nvSpPr>
          <p:cNvPr id="4" name="Hexagon 3"/>
          <p:cNvSpPr/>
          <p:nvPr/>
        </p:nvSpPr>
        <p:spPr>
          <a:xfrm>
            <a:off x="9502902" y="251688"/>
            <a:ext cx="685800" cy="593902"/>
          </a:xfrm>
          <a:prstGeom prst="hexagon">
            <a:avLst/>
          </a:prstGeom>
          <a:gradFill rotWithShape="1">
            <a:gsLst>
              <a:gs pos="0">
                <a:srgbClr val="0171AD"/>
              </a:gs>
              <a:gs pos="100000">
                <a:srgbClr val="002D45"/>
              </a:gs>
            </a:gsLst>
            <a:lin scaled="0" ang="2700000"/>
          </a:gra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9674352" y="400164"/>
            <a:ext cx="342900" cy="296951"/>
          </a:xfrm>
          <a:prstGeom prst="hexagon">
            <a:avLst/>
          </a:prstGeom>
          <a:solidFill>
            <a:srgbClr val="00964E"/>
          </a:solidFill>
          <a:ln w="14287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472041" y="504063"/>
            <a:ext cx="89154" cy="891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30409" y="504063"/>
            <a:ext cx="89154" cy="891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261872"/>
            <a:ext cx="731520" cy="731520"/>
          </a:xfrm>
          <a:prstGeom prst="ellipse">
            <a:avLst/>
          </a:prstGeom>
          <a:solidFill>
            <a:srgbClr val="C97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61872"/>
            <a:ext cx="731520" cy="7315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188720"/>
            <a:ext cx="2194560" cy="8778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entury Gothic"/>
              </a:rPr>
              <a:t>Router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1234440"/>
            <a:ext cx="7571231" cy="786384"/>
          </a:xfrm>
          <a:prstGeom prst="rect">
            <a:avLst/>
          </a:prstGeom>
          <a:gradFill rotWithShape="1">
            <a:gsLst>
              <a:gs pos="0">
                <a:srgbClr val="002D45"/>
              </a:gs>
              <a:gs pos="100000">
                <a:srgbClr val="0171AD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9080" y="1234440"/>
            <a:ext cx="7315200" cy="7863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entury Gothic"/>
              </a:rPr>
              <a:t>PATCH /v1/postulaciones/{id}  valida el documento JSON:API (Pydantic, borde)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286000"/>
            <a:ext cx="731520" cy="731520"/>
          </a:xfrm>
          <a:prstGeom prst="ellipse">
            <a:avLst/>
          </a:prstGeom>
          <a:solidFill>
            <a:srgbClr val="017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286000"/>
            <a:ext cx="731520" cy="7315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212848"/>
            <a:ext cx="2194560" cy="8778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entury Gothic"/>
              </a:rPr>
              <a:t>Depends()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2258568"/>
            <a:ext cx="7571231" cy="786384"/>
          </a:xfrm>
          <a:prstGeom prst="rect">
            <a:avLst/>
          </a:prstGeom>
          <a:gradFill rotWithShape="1">
            <a:gsLst>
              <a:gs pos="0">
                <a:srgbClr val="002D45"/>
              </a:gs>
              <a:gs pos="100000">
                <a:srgbClr val="0171AD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2258568"/>
            <a:ext cx="7315200" cy="7863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entury Gothic"/>
              </a:rPr>
              <a:t>dependencies.py inyecta los repositorios concretos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310128"/>
            <a:ext cx="731520" cy="731520"/>
          </a:xfrm>
          <a:prstGeom prst="ellipse">
            <a:avLst/>
          </a:prstGeom>
          <a:solidFill>
            <a:srgbClr val="00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10128"/>
            <a:ext cx="731520" cy="7315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236976"/>
            <a:ext cx="2194560" cy="8778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entury Gothic"/>
              </a:rPr>
              <a:t>Caso de uso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0" y="3282696"/>
            <a:ext cx="7571231" cy="786384"/>
          </a:xfrm>
          <a:prstGeom prst="rect">
            <a:avLst/>
          </a:prstGeom>
          <a:gradFill rotWithShape="1">
            <a:gsLst>
              <a:gs pos="0">
                <a:srgbClr val="002D45"/>
              </a:gs>
              <a:gs pos="100000">
                <a:srgbClr val="0171AD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69080" y="3282696"/>
            <a:ext cx="7315200" cy="7863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entury Gothic"/>
              </a:rPr>
              <a:t>AprobarPostulacion: postulacion.aprobar() y animal.marcar_adoptado()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4334256"/>
            <a:ext cx="731520" cy="731520"/>
          </a:xfrm>
          <a:prstGeom prst="ellipse">
            <a:avLst/>
          </a:prstGeom>
          <a:solidFill>
            <a:srgbClr val="00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334256"/>
            <a:ext cx="731520" cy="7315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261104"/>
            <a:ext cx="2194560" cy="8778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entury Gothic"/>
              </a:rPr>
              <a:t>Puertos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4306824"/>
            <a:ext cx="7571231" cy="786384"/>
          </a:xfrm>
          <a:prstGeom prst="rect">
            <a:avLst/>
          </a:prstGeom>
          <a:gradFill rotWithShape="1">
            <a:gsLst>
              <a:gs pos="0">
                <a:srgbClr val="002D45"/>
              </a:gs>
              <a:gs pos="100000">
                <a:srgbClr val="0171AD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69080" y="4306824"/>
            <a:ext cx="7315200" cy="7863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entury Gothic"/>
              </a:rPr>
              <a:t>guarda animal → aprobación → cierra las demás pendientes (en ese orden)</a:t>
            </a:r>
          </a:p>
        </p:txBody>
      </p:sp>
      <p:sp>
        <p:nvSpPr>
          <p:cNvPr id="28" name="Oval 27"/>
          <p:cNvSpPr/>
          <p:nvPr/>
        </p:nvSpPr>
        <p:spPr>
          <a:xfrm>
            <a:off x="731520" y="5358384"/>
            <a:ext cx="731520" cy="731520"/>
          </a:xfrm>
          <a:prstGeom prst="ellipse">
            <a:avLst/>
          </a:prstGeom>
          <a:solidFill>
            <a:srgbClr val="C97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358384"/>
            <a:ext cx="731520" cy="7315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entury Gothic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5285232"/>
            <a:ext cx="2194560" cy="8778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entury Gothic"/>
              </a:rPr>
              <a:t>Respuesta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1920" y="5330952"/>
            <a:ext cx="7571231" cy="786384"/>
          </a:xfrm>
          <a:prstGeom prst="rect">
            <a:avLst/>
          </a:prstGeom>
          <a:gradFill rotWithShape="1">
            <a:gsLst>
              <a:gs pos="0">
                <a:srgbClr val="002D45"/>
              </a:gs>
              <a:gs pos="100000">
                <a:srgbClr val="0171AD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69080" y="5330952"/>
            <a:ext cx="7315200" cy="7863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entury Gothic"/>
              </a:rPr>
              <a:t>200 con el animal y las cerradas en included; o 409 si ya estaba resuelta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46756" y="137160"/>
            <a:ext cx="6138062" cy="8229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entury Gothic"/>
              </a:rPr>
              <a:t>Evidencia: Testabilidad</a:t>
            </a:r>
          </a:p>
        </p:txBody>
      </p:sp>
      <p:sp>
        <p:nvSpPr>
          <p:cNvPr id="4" name="Hexagon 3"/>
          <p:cNvSpPr/>
          <p:nvPr/>
        </p:nvSpPr>
        <p:spPr>
          <a:xfrm>
            <a:off x="8844838" y="251688"/>
            <a:ext cx="685800" cy="593902"/>
          </a:xfrm>
          <a:prstGeom prst="hexagon">
            <a:avLst/>
          </a:prstGeom>
          <a:gradFill rotWithShape="1">
            <a:gsLst>
              <a:gs pos="0">
                <a:srgbClr val="0171AD"/>
              </a:gs>
              <a:gs pos="100000">
                <a:srgbClr val="002D45"/>
              </a:gs>
            </a:gsLst>
            <a:lin scaled="0" ang="2700000"/>
          </a:gra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9016288" y="400164"/>
            <a:ext cx="342900" cy="296951"/>
          </a:xfrm>
          <a:prstGeom prst="hexagon">
            <a:avLst/>
          </a:prstGeom>
          <a:solidFill>
            <a:srgbClr val="00964E"/>
          </a:solidFill>
          <a:ln w="14287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13977" y="504063"/>
            <a:ext cx="89154" cy="891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72345" y="504063"/>
            <a:ext cx="89154" cy="891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6656" y="1143000"/>
            <a:ext cx="2596896" cy="1463040"/>
          </a:xfrm>
          <a:prstGeom prst="rect">
            <a:avLst/>
          </a:prstGeom>
          <a:solidFill>
            <a:srgbClr val="0096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188720"/>
            <a:ext cx="2596896" cy="8229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entury Gothic"/>
              </a:rPr>
              <a:t>157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965960"/>
            <a:ext cx="2596896" cy="5486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entury Gothic"/>
              </a:rPr>
              <a:t>pruebas en total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10712" y="1143000"/>
            <a:ext cx="2596896" cy="1463040"/>
          </a:xfrm>
          <a:prstGeom prst="rect">
            <a:avLst/>
          </a:prstGeom>
          <a:gradFill rotWithShape="1">
            <a:gsLst>
              <a:gs pos="0">
                <a:srgbClr val="002D45"/>
              </a:gs>
              <a:gs pos="100000">
                <a:srgbClr val="0171AD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0712" y="1188720"/>
            <a:ext cx="2596896" cy="8229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entury Gothic"/>
              </a:rPr>
              <a:t>100 %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1965960"/>
            <a:ext cx="2596896" cy="5486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entury Gothic"/>
              </a:rPr>
              <a:t>cobertura del núcleo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143000"/>
            <a:ext cx="2596896" cy="1463040"/>
          </a:xfrm>
          <a:prstGeom prst="rect">
            <a:avLst/>
          </a:prstGeom>
          <a:solidFill>
            <a:srgbClr val="0096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1188720"/>
            <a:ext cx="2596896" cy="8229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entury Gothic"/>
              </a:rPr>
              <a:t>≈ 2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1965960"/>
            <a:ext cx="2596896" cy="5486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entury Gothic"/>
              </a:rPr>
              <a:t>suite unitaria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78824" y="1143000"/>
            <a:ext cx="2596896" cy="1463040"/>
          </a:xfrm>
          <a:prstGeom prst="rect">
            <a:avLst/>
          </a:prstGeom>
          <a:gradFill rotWithShape="1">
            <a:gsLst>
              <a:gs pos="0">
                <a:srgbClr val="002D45"/>
              </a:gs>
              <a:gs pos="100000">
                <a:srgbClr val="0171AD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78824" y="1188720"/>
            <a:ext cx="2596896" cy="8229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entury Gothic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78824" y="1965960"/>
            <a:ext cx="2596896" cy="5486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entury Gothic"/>
              </a:rPr>
              <a:t>servicios externos necesarios</a:t>
            </a:r>
          </a:p>
        </p:txBody>
      </p:sp>
      <p:pic>
        <p:nvPicPr>
          <p:cNvPr id="20" name="Picture 19" descr="02-cobertura-nucl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834640"/>
            <a:ext cx="6674760" cy="3749039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7543800" y="2834640"/>
            <a:ext cx="3959352" cy="3749039"/>
          </a:xfrm>
          <a:prstGeom prst="rect">
            <a:avLst/>
          </a:prstGeom>
          <a:gradFill rotWithShape="1">
            <a:gsLst>
              <a:gs pos="0">
                <a:srgbClr val="002D45"/>
              </a:gs>
              <a:gs pos="100000">
                <a:srgbClr val="0171AD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2852928"/>
            <a:ext cx="3886200" cy="3712463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marL="160020" indent="-160020">
              <a:lnSpc>
                <a:spcPct val="100000"/>
              </a:lnSpc>
              <a:buChar char="•"/>
            </a:pPr>
            <a:r>
              <a:rPr sz="1400" b="1">
                <a:solidFill>
                  <a:srgbClr val="FFFFFF"/>
                </a:solidFill>
                <a:latin typeface="Century Gothic"/>
              </a:rPr>
              <a:t>Puertos mockeados: AsyncMock(spec=Puerto)</a:t>
            </a:r>
          </a:p>
          <a:p>
            <a:pPr marL="160020" indent="-160020">
              <a:lnSpc>
                <a:spcPct val="100000"/>
              </a:lnSpc>
              <a:buChar char="•"/>
            </a:pPr>
            <a:r>
              <a:rPr sz="1400" b="1">
                <a:solidFill>
                  <a:srgbClr val="FFFFFF"/>
                </a:solidFill>
                <a:latin typeface="Century Gothic"/>
              </a:rPr>
              <a:t>Se verifica la interacción: un 409 nunca llega a guardar()</a:t>
            </a:r>
          </a:p>
          <a:p>
            <a:pPr marL="160020" indent="-160020">
              <a:lnSpc>
                <a:spcPct val="100000"/>
              </a:lnSpc>
              <a:buChar char="•"/>
            </a:pPr>
            <a:r>
              <a:rPr sz="1400" b="1">
                <a:solidFill>
                  <a:srgbClr val="FFFFFF"/>
                </a:solidFill>
                <a:latin typeface="Century Gothic"/>
              </a:rPr>
              <a:t>docker run --network none: sin Mongo ni servidor</a:t>
            </a:r>
          </a:p>
          <a:p>
            <a:pPr marL="160020" indent="-160020">
              <a:lnSpc>
                <a:spcPct val="100000"/>
              </a:lnSpc>
              <a:buChar char="•"/>
            </a:pPr>
            <a:r>
              <a:rPr sz="1400" b="1">
                <a:solidFill>
                  <a:srgbClr val="FFFFFF"/>
                </a:solidFill>
                <a:latin typeface="Century Gothic"/>
              </a:rPr>
              <a:t>Mismo caso de uso con in-memory, mocks y Mongo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45739" y="137160"/>
            <a:ext cx="5340096" cy="8229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entury Gothic"/>
              </a:rPr>
              <a:t>Decisiones y Costos</a:t>
            </a:r>
          </a:p>
        </p:txBody>
      </p:sp>
      <p:sp>
        <p:nvSpPr>
          <p:cNvPr id="4" name="Hexagon 3"/>
          <p:cNvSpPr/>
          <p:nvPr/>
        </p:nvSpPr>
        <p:spPr>
          <a:xfrm>
            <a:off x="8445855" y="251688"/>
            <a:ext cx="685800" cy="593902"/>
          </a:xfrm>
          <a:prstGeom prst="hexagon">
            <a:avLst/>
          </a:prstGeom>
          <a:gradFill rotWithShape="1">
            <a:gsLst>
              <a:gs pos="0">
                <a:srgbClr val="0171AD"/>
              </a:gs>
              <a:gs pos="100000">
                <a:srgbClr val="002D45"/>
              </a:gs>
            </a:gsLst>
            <a:lin scaled="0" ang="2700000"/>
          </a:gra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8617305" y="400164"/>
            <a:ext cx="342900" cy="296951"/>
          </a:xfrm>
          <a:prstGeom prst="hexagon">
            <a:avLst/>
          </a:prstGeom>
          <a:solidFill>
            <a:srgbClr val="00964E"/>
          </a:solidFill>
          <a:ln w="14287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4994" y="504063"/>
            <a:ext cx="89154" cy="891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73362" y="504063"/>
            <a:ext cx="89154" cy="891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097280"/>
            <a:ext cx="4882896" cy="5486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entury Gothic"/>
              </a:rPr>
              <a:t>Decisiones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1097280"/>
            <a:ext cx="4901184" cy="5486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entury Gothic"/>
              </a:rPr>
              <a:t>Costos asumidos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" y="1737360"/>
            <a:ext cx="4882896" cy="3931920"/>
          </a:xfrm>
          <a:prstGeom prst="rect">
            <a:avLst/>
          </a:prstGeom>
          <a:solidFill>
            <a:srgbClr val="0096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55648"/>
            <a:ext cx="4773168" cy="3895344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marL="171450" indent="-171450">
              <a:lnSpc>
                <a:spcPct val="100000"/>
              </a:lnSpc>
              <a:buChar char="•"/>
            </a:pPr>
            <a:r>
              <a:rPr sz="1500" b="1">
                <a:solidFill>
                  <a:srgbClr val="FFFFFF"/>
                </a:solidFill>
                <a:latin typeface="Century Gothic"/>
              </a:rPr>
              <a:t>Pydantic valida formato en el borde; las reglas, en el dominio (ADR-006)</a:t>
            </a:r>
          </a:p>
          <a:p>
            <a:pPr marL="171450" indent="-171450">
              <a:lnSpc>
                <a:spcPct val="100000"/>
              </a:lnSpc>
              <a:buChar char="•"/>
            </a:pPr>
            <a:r>
              <a:rPr sz="1500" b="1">
                <a:solidFill>
                  <a:srgbClr val="FFFFFF"/>
                </a:solidFill>
                <a:latin typeface="Century Gothic"/>
              </a:rPr>
              <a:t>Puertos como Protocol; el concreto se inyecta con Depends() (ADR-007)</a:t>
            </a:r>
          </a:p>
          <a:p>
            <a:pPr marL="171450" indent="-171450">
              <a:lnSpc>
                <a:spcPct val="100000"/>
              </a:lnSpc>
              <a:buChar char="•"/>
            </a:pPr>
            <a:r>
              <a:rPr sz="1500" b="1">
                <a:solidFill>
                  <a:srgbClr val="FFFFFF"/>
                </a:solidFill>
                <a:latin typeface="Century Gothic"/>
              </a:rPr>
              <a:t>IDs como str en el dominio; el adaptador traduce ObjectId</a:t>
            </a:r>
          </a:p>
          <a:p>
            <a:pPr marL="171450" indent="-171450">
              <a:lnSpc>
                <a:spcPct val="100000"/>
              </a:lnSpc>
              <a:buChar char="•"/>
            </a:pPr>
            <a:r>
              <a:rPr sz="1500" b="1">
                <a:solidFill>
                  <a:srgbClr val="FFFFFF"/>
                </a:solidFill>
                <a:latin typeface="Century Gothic"/>
              </a:rPr>
              <a:t>'postulado' sigue aceptando postulaciones</a:t>
            </a:r>
          </a:p>
          <a:p>
            <a:pPr marL="171450" indent="-171450">
              <a:lnSpc>
                <a:spcPct val="100000"/>
              </a:lnSpc>
              <a:buChar char="•"/>
            </a:pPr>
            <a:r>
              <a:rPr sz="1500" b="1">
                <a:solidFill>
                  <a:srgbClr val="FFFFFF"/>
                </a:solidFill>
                <a:latin typeface="Century Gothic"/>
              </a:rPr>
              <a:t>Excepción de dominio → HTTP en un solo archivo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01968" y="1737360"/>
            <a:ext cx="4901184" cy="3931920"/>
          </a:xfrm>
          <a:prstGeom prst="rect">
            <a:avLst/>
          </a:prstGeom>
          <a:gradFill rotWithShape="1">
            <a:gsLst>
              <a:gs pos="0">
                <a:srgbClr val="4A0000"/>
              </a:gs>
              <a:gs pos="100000">
                <a:srgbClr val="AB0001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2552" y="1755648"/>
            <a:ext cx="4700016" cy="3895344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marL="171450" indent="-171450">
              <a:lnSpc>
                <a:spcPct val="100000"/>
              </a:lnSpc>
              <a:buChar char="•"/>
            </a:pPr>
            <a:r>
              <a:rPr sz="1500" b="1">
                <a:solidFill>
                  <a:srgbClr val="FFFFFF"/>
                </a:solidFill>
                <a:latin typeface="Century Gothic"/>
              </a:rPr>
              <a:t>Más archivos y mapeos que un CRUD (4 entidades)</a:t>
            </a:r>
          </a:p>
          <a:p>
            <a:pPr marL="171450" indent="-171450">
              <a:lnSpc>
                <a:spcPct val="100000"/>
              </a:lnSpc>
              <a:buChar char="•"/>
            </a:pPr>
            <a:r>
              <a:rPr sz="1500" b="1">
                <a:solidFill>
                  <a:srgbClr val="FFFFFF"/>
                </a:solidFill>
                <a:latin typeface="Century Gothic"/>
              </a:rPr>
              <a:t>Indirección: hay que saltar de la interfaz a la implementación</a:t>
            </a:r>
          </a:p>
          <a:p>
            <a:pPr marL="171450" indent="-171450">
              <a:lnSpc>
                <a:spcPct val="100000"/>
              </a:lnSpc>
              <a:buChar char="•"/>
            </a:pPr>
            <a:r>
              <a:rPr sz="1500" b="1">
                <a:solidFill>
                  <a:srgbClr val="FFFFFF"/>
                </a:solidFill>
                <a:latin typeface="Century Gothic"/>
              </a:rPr>
              <a:t>Validación en dos capas (borde y dominio)</a:t>
            </a:r>
          </a:p>
          <a:p>
            <a:pPr marL="171450" indent="-171450">
              <a:lnSpc>
                <a:spcPct val="100000"/>
              </a:lnSpc>
              <a:buChar char="•"/>
            </a:pPr>
            <a:r>
              <a:rPr sz="1500" b="1">
                <a:solidFill>
                  <a:srgbClr val="FFFFFF"/>
                </a:solidFill>
                <a:latin typeface="Century Gothic"/>
              </a:rPr>
              <a:t>Excepciones en la periferia: un singleton, herencia en _ConRepositorios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5852160"/>
            <a:ext cx="10826496" cy="7315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entury Gothic"/>
              </a:rPr>
              <a:t>Se justifica por la regla de cierre automático: la corrección de las reglas pesa más que la simplicidad.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